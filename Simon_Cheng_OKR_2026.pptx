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88952" cy="25400"/>
          </a:xfrm>
          <a:prstGeom prst="rect">
            <a:avLst/>
          </a:prstGeom>
          <a:solidFill>
            <a:srgbClr val="5E6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45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Helvetica Neue"/>
              </a:rPr>
              <a:t>SIMON CHENG  ·  OKR TRACKER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4572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  <a:latin typeface="Helvetica Neue"/>
              </a:rPr>
              <a:t>1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94132"/>
            <a:ext cx="12188952" cy="2011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321564"/>
            <a:ext cx="4818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Helvetica Neue"/>
              </a:rPr>
              <a:t>RAPIDLY DELIVER WITH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95300"/>
            <a:ext cx="12188952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531876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Delivery Predictability &amp; Agile Maturity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69646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Achieve a high completed-vs-committed delivery ratio and ensure sprint tickets meet the Definition of Done (DoD) across all Retail &amp; Wholesale delivery squads.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541020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4648" y="56845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70561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80% completed vs. committed; 80% DoD adherence.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54102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70648" y="56845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8" y="70561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85% completed vs. committed; 85% DoD adherence.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541020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6648" y="56845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70561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90%+ completed vs. committed; 90%+ DoD adherence.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112903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135380"/>
            <a:ext cx="12188952" cy="64008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" y="1171956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Testing Automation &amp; 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133654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Increase automated test and regression coverage across apps in Retail Commerce, Retail Digital workspace, across desktop and mobile form factors.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1181100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4648" y="120853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648" y="134569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40% overall automated test coverage.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06640" y="118110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0648" y="120853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70648" y="134569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60% overall automated test coverage.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1181100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56648" y="120853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6648" y="134569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80% overall automated test coverage.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176911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1775460"/>
            <a:ext cx="12188952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" y="1812036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AI-Assisted Productivity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032" y="197662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Increase the percentage of product delivery work supported by AI-assisted tooling across Retail &amp; Wholesale Technology — measured across four output types: requirements &amp; user stories, data mapping artifacts, delivery scoping cycle time, and active use of a Retail &amp; Wholesale domain knowledge base.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0640" y="1821180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84648" y="184861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4648" y="198577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20% combined AI-assisted contributions across the four output types, measured quarterly from Q2 2026.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182118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70648" y="184861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0648" y="198577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30% combined AI-assisted contributions; Retail &amp; Wholesale knowledge base v1.0 active and referenced by ≥2 squads.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1821180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6648" y="184861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56648" y="198577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40% combined AI-assisted contributions; Retail &amp; Wholesale knowledge base v1.0 active and referenced by ≥2 squads.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240919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2461260"/>
            <a:ext cx="12188952" cy="2011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032" y="2488692"/>
            <a:ext cx="4818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Helvetica Neue"/>
              </a:rPr>
              <a:t>SCALE WITH PLATFORMS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2662428"/>
            <a:ext cx="12188952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032" y="2699004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Platform Services Adoption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6032" y="2863596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Drive global platform scale by building any new Retail &amp; Wholesale capabilities via adoption of the approved and available Omnichannel Platform (OCP) services and ensuring all new initiatives requiring services assist funding and building out of OCP domains.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20640" y="2708148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84648" y="273558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84648" y="287274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90% of new integrations built on new platform services where available.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2708148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70648" y="273558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70648" y="287274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One extra unfunded capabilities migrate to new OCP services from legacy services.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692640" y="2708148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56648" y="273558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56648" y="287274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two extra unfunded capabilities migrate to new OCP services from legacy services.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3296158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0" y="3302508"/>
            <a:ext cx="12188952" cy="64008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56032" y="3339084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System Reliability &amp; Security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032" y="3503676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Maintain critical platform uptime across POS, Workforce Management, and Wholesale Order platforms and ensure rapid remediation of critical vulnerabilities detected.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0640" y="3348228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184648" y="337566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84648" y="351282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99.0% uptime; critical vulnerabilities addressed in 3 days.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06640" y="3348228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70648" y="337566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70648" y="351282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99.5% uptime; critical vulnerabilities addressed in 48 hours.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692640" y="3348228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756648" y="337566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56648" y="351282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99.9% uptime; critical vulnerabilities addressed in 24 hours.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3936238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0" y="3988308"/>
            <a:ext cx="12188952" cy="2011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6032" y="4015740"/>
            <a:ext cx="4818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Helvetica Neue"/>
              </a:rPr>
              <a:t>TECHNOLOGY EXCELLENCE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4189476"/>
            <a:ext cx="12188952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56032" y="4226052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Financial &amp; Roadmap Rigor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6032" y="4390644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Deliver the Retail &amp; Wholesale tech roadmaps on budget and sustain platforms within baseline opex budget.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0" y="4235196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184648" y="4262628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84648" y="4399788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Delivered with +/- 10% budget variance.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406640" y="4235196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470648" y="4262628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70648" y="4399788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Delivered with +/- 5% budget variance.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92640" y="4235196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756648" y="4262628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756648" y="4399788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Delivered perfectly on budget (0% variance).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4823206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0" y="4829556"/>
            <a:ext cx="12188952" cy="64008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56032" y="4866132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Team Health, Retention &amp; Development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6032" y="5030724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Foster a high-performing organization by executing active development, and maintaining Peakon engagement scores from Q4 2025 benchmark.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120640" y="4875276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84648" y="4902708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5039868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90% retention; 90% of team has active development plans, Peakon score maintained.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406640" y="4875276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470648" y="4902708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470648" y="5039868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95% retention; 95% of team has active development plans, Peakon score improved by 0.1 for 1 quarter.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692640" y="4875276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756648" y="4902708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56648" y="5039868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&gt;95% retention; 100% development plans + &gt;0.1 increase in Peakon focus areas maintained from Q1 to Q4.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0" y="5463286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0" y="5469636"/>
            <a:ext cx="12188952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56032" y="5506212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Planning &amp; Delivery Framework Completion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56032" y="5670804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100% completion of Planning and Delivery Framework artifacts for prioritized projects greater than USD $250k.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120640" y="5515356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184648" y="5542788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184648" y="5679948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100% of prioritized projects (&gt;$250k) have Planning &amp; Delivery Framework artifacts completed on time.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406640" y="5515356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70648" y="5542788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70648" y="5679948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artifacts completed ahead of schedule and signed off by stakeholders before project kick-off.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692640" y="5515356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756648" y="5542788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756648" y="5679948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framework adoption extends beyond the $250k threshold, with smaller initiatives voluntarily adopting artifacts — indicating cultural embedding across the team.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0" y="6103366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0" y="6109716"/>
            <a:ext cx="12188952" cy="64008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56032" y="6146292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Succession Readiness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56032" y="6310884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Ensure every critical role within the Retail &amp; Wholesale Technology team has an identified and documented successor, with a development plan in place to close readiness gaps.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120640" y="6155436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184648" y="6182868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184648" y="6320028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100% of critical roles have a named successor documented with an initial readiness assessment completed.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406640" y="6155436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470648" y="6182868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70648" y="6320028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each successor has an active development plan targeting their specific readiness gaps, reviewed with the individual.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692640" y="6155436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756648" y="6182868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756648" y="6320028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at least one successor per critical role has been given a visible stretch assignment or acting opportunity to validate readiness in practice.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0" y="6743446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88952" cy="25400"/>
          </a:xfrm>
          <a:prstGeom prst="rect">
            <a:avLst/>
          </a:prstGeom>
          <a:solidFill>
            <a:srgbClr val="5E6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45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Helvetica Neue"/>
              </a:rPr>
              <a:t>SIMON CHENG  ·  OKR TRACKER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4572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  <a:latin typeface="Helvetica Neue"/>
              </a:rPr>
              <a:t>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94132"/>
            <a:ext cx="12188952" cy="2011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321564"/>
            <a:ext cx="4818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Helvetica Neue"/>
              </a:rPr>
              <a:t>GSD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95300"/>
            <a:ext cx="12188952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531876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Scheduling &amp; Forecasting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69646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Deliver scheduling and key forecasting capabilities that are fully deployed, adopted, and operational across target locations by October 2026.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541020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4648" y="56845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70561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Capabilities are deployment-ready and validated in a staging environment by October 2026.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54102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70648" y="56845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8" y="70561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deployed and live in all target locations by October 2026, with initial user adoption confirmed.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541020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6648" y="56845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70561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measurable operational impact demonstrated (e.g. reduction in manual scheduling effort or improvement in forecast accuracy) within the year.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112903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135380"/>
            <a:ext cx="12188952" cy="64008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" y="1171956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Quarterly Roadmap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133654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≥90% of committed quarterly roadmap initiatives delivered within approved scope and timeline.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1181100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4648" y="120853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648" y="134569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≥90% of committed quarterly roadmap initiatives delivered within approved scope and timeline.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06640" y="118110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0648" y="120853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70648" y="134569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≥95% delivered on scope and timeline, with no scope reductions accepted post-commitment.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1181100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56648" y="120853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6648" y="134569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100% delivered on scope and timeline; retrospective evidence showing improved estimation accuracy quarter-over-quarter.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176911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1775460"/>
            <a:ext cx="12188952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" y="1812036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Location Deployments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032" y="197662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100% of 16 planned store deployments activated on time across North America (11) and Europe (5).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0640" y="1821180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84648" y="184861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4648" y="198577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100% of planned location deployments activated on time.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182118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70648" y="184861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0648" y="198577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all deployments completed with zero critical post-go-live incidents within the first 30 days.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1821180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6648" y="184861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56648" y="198577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deployment playbook refined and reused, reducing average deployment cycle time by ≥20% vs. baseline.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240919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2415540"/>
            <a:ext cx="12188952" cy="64008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032" y="2452116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Product Dashboard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032" y="261670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Build and embed a product dashboard that gives the Retail &amp; Wholesale Technology team visibility into capability performance, enabling data-driven prioritisation and investment decisions.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20640" y="2461260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84648" y="248869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262585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Product dashboard live with core metrics defined and accessible to the team by Q2 2026.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06640" y="246126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70648" y="248869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70648" y="262585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dashboard actively referenced in quarterly business reviews with at least one documented decision influenced by the data.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92640" y="2461260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56648" y="248869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56648" y="262585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dashboard expanded to include predictive or trending metrics, and adopted as the primary tool for roadmap prioritisation discussions.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304927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3101340"/>
            <a:ext cx="12188952" cy="2011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6032" y="3128772"/>
            <a:ext cx="4818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Helvetica Neue"/>
              </a:rPr>
              <a:t>ALC — ARC'TERYX LEADERSHIP CODE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3302508"/>
            <a:ext cx="12188952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56032" y="3339084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Innovation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032" y="3503676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Foster a culture of innovation within Retail &amp; Wholesale Technology by creating space for new ideas, experimentation, and calculated risk-taking.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0640" y="3348228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184648" y="337566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84648" y="351282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At least one structured innovation initiative (e.g. hackathon, spike, or experimentation sprint) run within the year, with outcomes shared across the team.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06640" y="3348228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70648" y="337566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70648" y="351282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at least one idea originating from the team moves into the roadmap or is adopted as a practice change.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692640" y="3348228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756648" y="337566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56648" y="351282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innovation contributions recognised at a leadership level; team members proactively bring forward ideas without prompting.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3936238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0" y="3942588"/>
            <a:ext cx="12188952" cy="64008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6032" y="3979164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Communication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6032" y="4143756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Maintain clear, consistent, and transparent communication across the team and with senior stakeholders — ensuring alignment on priorities, progress, and decisions.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120640" y="3988308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84648" y="401574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84648" y="415290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Regular cadence of team and stakeholder communications maintained (e.g. team updates, leadership reporting) with no significant alignment gaps.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406640" y="3988308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70648" y="401574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70648" y="415290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feedback from team and stakeholders reflects high clarity and confidence in direction; no surprises at key milestones.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692640" y="3988308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56648" y="401574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56648" y="415290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communication style recognised as a model within the broader leadership group; proactively shapes narratives rather than responding to them.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4576318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0" y="4582668"/>
            <a:ext cx="12188952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56032" y="4619244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Vision &amp; Strategy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6032" y="4783836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Articulate and sustain a clear multi-year technology vision for Retail &amp; Wholesale that connects team work to Arc'teryx's broader strategic direction.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120640" y="4628388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84648" y="465582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184648" y="479298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A documented Retail &amp; Wholesale Technology vision and 2026 strategy communicated to the team and referenced in planning.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406640" y="4628388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470648" y="465582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70648" y="479298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vision actively used to prioritise and deprioritise work; team can articulate how their work connects to the broader strategy.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692640" y="4628388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756648" y="4655820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756648" y="4792980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vision recognised and cited by senior leadership as a benchmark for strategic clarity within the technology organisation.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5216398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88952" cy="25400"/>
          </a:xfrm>
          <a:prstGeom prst="rect">
            <a:avLst/>
          </a:prstGeom>
          <a:solidFill>
            <a:srgbClr val="5E6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45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Helvetica Neue"/>
              </a:rPr>
              <a:t>SIMON CHENG  ·  OKR TRACKER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4572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  <a:latin typeface="Helvetica Neue"/>
              </a:rPr>
              <a:t>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94132"/>
            <a:ext cx="12188952" cy="2011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321564"/>
            <a:ext cx="4818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Helvetica Neue"/>
              </a:rPr>
              <a:t>LIVEIT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95300"/>
            <a:ext cx="12188952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531876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Simon learns to swim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69646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Complete a structured swim program and build enough technique and endurance to swim continuously and confidently.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541020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4648" y="56845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70561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Completes a structured beginner swim program and can swim 25m unassisted.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54102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70648" y="56845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8" y="70561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Swims 50m continuously with controlled breathing and consistent technique.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541020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6648" y="56845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70561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Completes a 200m continuous swim — enough to never be the liability on a group water activity.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112903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135380"/>
            <a:ext cx="12188952" cy="64008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" y="1171956"/>
            <a:ext cx="477316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Claire leads me on a mountain biking event and I lose nothing important to my body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133654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Participate in a mountain biking event led by Claire and emerge intact, dignified, and possibly enthusiastic.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1181100"/>
            <a:ext cx="2194560" cy="54864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4648" y="120853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648" y="134569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Completes the ride. All limbs accounted for.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06640" y="118110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0648" y="120853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70648" y="134569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keeps up with Claire for at least 50% of the trail without stopping to "appreciate the scenery."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1181100"/>
            <a:ext cx="2194560" cy="548640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56648" y="1208532"/>
            <a:ext cx="2194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6648" y="134569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finishes with enough dignity to suggest doing it again.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176911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