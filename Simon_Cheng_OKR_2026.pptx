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88952" cy="25400"/>
          </a:xfrm>
          <a:prstGeom prst="rect">
            <a:avLst/>
          </a:prstGeom>
          <a:solidFill>
            <a:srgbClr val="5E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6400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Helvetica Neue"/>
              </a:rPr>
              <a:t>SIMON CHENG  ·  OKR TRACKER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0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Helvetica Neue"/>
              </a:rPr>
              <a:t>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30708"/>
            <a:ext cx="12188952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367284"/>
            <a:ext cx="4608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RAPIDLY DELIVER WITH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8452"/>
            <a:ext cx="12188952" cy="6277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623316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Delivery Predictability &amp; Agile Maturity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824484"/>
            <a:ext cx="4562856" cy="31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Helvetica Neue"/>
              </a:rPr>
              <a:t>Achieve a high completed-vs-committed delivery ratio and ensure sprint tickets meet the Definition of Done (DoD) across all Retail &amp; Wholesale delivery squads.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623316"/>
            <a:ext cx="2221992" cy="51799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65989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824484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80% completed vs. committed; 80% DoD adherence.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87768" y="623316"/>
            <a:ext cx="2221992" cy="5179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65989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824484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85% completed vs. committed; 85% DoD adherence.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19488" y="623316"/>
            <a:ext cx="2221992" cy="51799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65989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824484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90%+ completed vs. committed; 90%+ DoD adherence.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1189820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196170"/>
            <a:ext cx="12188952" cy="627718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1251034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Testing Automation &amp;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1452202"/>
            <a:ext cx="4562856" cy="31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Helvetica Neue"/>
              </a:rPr>
              <a:t>Increase automated test and regression coverage across apps in Retail Commerce, Retail Digital workspace, across desktop and mobile form factors.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251034"/>
            <a:ext cx="2221992" cy="51799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1287610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1452202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40% overall automated test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87768" y="1251034"/>
            <a:ext cx="2221992" cy="5179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1287610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452202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60% overall automated test coverage.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9488" y="1251034"/>
            <a:ext cx="2221992" cy="51799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287610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452202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80% overall automated test coverage.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1817539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1823889"/>
            <a:ext cx="12188952" cy="6277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1878753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AI-Assisted Productivity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" y="2079921"/>
            <a:ext cx="4562856" cy="31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Helvetica Neue"/>
              </a:rPr>
              <a:t>Increase the percentage of product delivery work supported by AI-assisted tooling across Retail &amp; Wholesale Technology — measured across four output types: requirements &amp; user stories, data mapping artifacts, delivery scoping cycle time, and active use of a Retail &amp; Wholesale domain knowledge base.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56048" y="1878753"/>
            <a:ext cx="2221992" cy="51799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1915329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2079921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20% combined AI-assisted contributions across the four output types, measured quarterly from Q2 2026.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87768" y="1878753"/>
            <a:ext cx="2221992" cy="5179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1915329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079921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30% combined AI-assisted contributions; Retail &amp; Wholesale knowledge base v1.0 active and referenced by ≥2 squads.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19488" y="1878753"/>
            <a:ext cx="2221992" cy="51799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1915329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079921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40% combined AI-assisted contributions; Retail &amp; Wholesale knowledge base v1.0 active and referenced by ≥2 squads.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2445257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2506471"/>
            <a:ext cx="12188952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" y="2543047"/>
            <a:ext cx="4608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SCALE WITH PLATFORMS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2744215"/>
            <a:ext cx="12188952" cy="6277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" y="2799079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Platform Services Adoption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" y="3000247"/>
            <a:ext cx="4562856" cy="31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Helvetica Neue"/>
              </a:rPr>
              <a:t>Drive global platform scale by building any new Retail &amp; Wholesale capabilities via adoption of the approved and available Omnichannel Platform (OCP) services and ensuring all new initiatives requiring services assist funding and building out of OCP domains.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56048" y="2799079"/>
            <a:ext cx="2221992" cy="51799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0" y="2835655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3000247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90% of new integrations built on new platform services where available.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87768" y="2799079"/>
            <a:ext cx="2221992" cy="5179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60920" y="2835655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3000247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Solid + One extra unfunded capabilities migrate to new OCP services from legacy services.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19488" y="2799079"/>
            <a:ext cx="2221992" cy="51799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2640" y="2835655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3000247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Solid + two extra unfunded capabilities migrate to new OCP services from legacy services.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3365584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3371934"/>
            <a:ext cx="12188952" cy="627718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2608" y="3426798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System Reliability &amp; Security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2608" y="3627966"/>
            <a:ext cx="4562856" cy="31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Helvetica Neue"/>
              </a:rPr>
              <a:t>Maintain critical platform uptime across POS, Workforce Management, and Wholesale Order platforms and ensure rapid remediation of critical vulnerabilities detected.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56048" y="3426798"/>
            <a:ext cx="2221992" cy="51799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0" y="3463374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3627966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99.0% uptime; critical vulnerabilities addressed in 3 days.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87768" y="3426798"/>
            <a:ext cx="2221992" cy="5179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60920" y="3463374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20" y="3627966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99.5% uptime; critical vulnerabilities addressed in 48 hours.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19488" y="3426798"/>
            <a:ext cx="2221992" cy="51799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92640" y="3463374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3627966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99.9% uptime; critical vulnerabilities addressed in 24 hours.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3993303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4054517"/>
            <a:ext cx="12188952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2608" y="4091093"/>
            <a:ext cx="4608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TECHNOLOGY EXCELLENCE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4292261"/>
            <a:ext cx="12188952" cy="6277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2608" y="4347125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Financial &amp; Roadmap Rigor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2608" y="4548293"/>
            <a:ext cx="4562856" cy="31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Helvetica Neue"/>
              </a:rPr>
              <a:t>Deliver the Retail &amp; Wholesale tech roadmaps on budget and sustain platforms within baseline opex budget.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56048" y="4347125"/>
            <a:ext cx="2221992" cy="51799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0" y="4383701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0" y="4548293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Delivered with +/- 10% budget variance.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87768" y="4347125"/>
            <a:ext cx="2221992" cy="5179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60920" y="4383701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60920" y="4548293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Delivered with +/- 5% budget variance.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19488" y="4347125"/>
            <a:ext cx="2221992" cy="51799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92640" y="4383701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92640" y="4548293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Delivered perfectly on budget (0% variance).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4913629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0" y="4919979"/>
            <a:ext cx="12188952" cy="627718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92608" y="4974843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Team Health, Retention &amp; Development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2608" y="5176011"/>
            <a:ext cx="4562856" cy="31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Helvetica Neue"/>
              </a:rPr>
              <a:t>Foster a high-performing organization by executing active development, and maintaining Peakon engagement scores from Q4 2025 benchmark.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56048" y="4974843"/>
            <a:ext cx="2221992" cy="51799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029200" y="5011419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9200" y="5176011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90% retention; 90% of team has active development plans, Peakon score maintained.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287768" y="4974843"/>
            <a:ext cx="2221992" cy="5179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60920" y="5011419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60920" y="5176011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95% retention; 95% of team has active development plans, Peakon score improved by 0.1 for 1 quarter.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19488" y="4974843"/>
            <a:ext cx="2221992" cy="51799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92640" y="5011419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92640" y="5176011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&gt;95% retention; 100% development plans + &gt;0.1 increase in Peakon focus areas maintained from Q1 to Q4.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5541348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0" y="5547698"/>
            <a:ext cx="12188952" cy="6277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92608" y="5602562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Planning &amp; Delivery Framework Completion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2608" y="5803730"/>
            <a:ext cx="4562856" cy="31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Helvetica Neue"/>
              </a:rPr>
              <a:t>100% completion of Planning and Delivery Framework artifacts for prioritized projects greater than USD $250k.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956048" y="5602562"/>
            <a:ext cx="2221992" cy="51799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29200" y="5639138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29200" y="5803730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100% of prioritized projects (&gt;$250k) have Planning &amp; Delivery Framework artifacts completed on time.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287768" y="5602562"/>
            <a:ext cx="2221992" cy="5179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60920" y="5639138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60920" y="5803730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Solid + artifacts completed ahead of schedule and signed off by stakeholders before project kick-off.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19488" y="5602562"/>
            <a:ext cx="2221992" cy="51799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92640" y="5639138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92640" y="5803730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Impressive + framework adoption extends beyond the $250k threshold, with smaller initiatives voluntarily adopting artifacts — indicating cultural embedding across the team.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0" y="6169067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0" y="6175417"/>
            <a:ext cx="12188952" cy="627718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92608" y="6230281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Succession Readiness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2608" y="6431449"/>
            <a:ext cx="4562856" cy="316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Helvetica Neue"/>
              </a:rPr>
              <a:t>Ensure every critical role within the Retail &amp; Wholesale Technology team has an identified and documented successor, with a development plan in place to close readiness gaps.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956048" y="6230281"/>
            <a:ext cx="2221992" cy="51799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029200" y="6266857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029200" y="6431449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100% of critical roles have a named successor documented with an initial readiness assessment completed.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287768" y="6230281"/>
            <a:ext cx="2221992" cy="51799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360920" y="6266857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60920" y="6431449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Solid + each successor has an active development plan targeting their specific readiness gaps, reviewed with the individual.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619488" y="6230281"/>
            <a:ext cx="2221992" cy="51799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92640" y="6266857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692640" y="6431449"/>
            <a:ext cx="2148840" cy="28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Helvetica Neue"/>
              </a:rPr>
              <a:t>Impressive + at least one successor per critical role has been given a visible stretch assignment or acting opportunity to validate readiness in practice.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0" y="6796786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88952" cy="25400"/>
          </a:xfrm>
          <a:prstGeom prst="rect">
            <a:avLst/>
          </a:prstGeom>
          <a:solidFill>
            <a:srgbClr val="5E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6400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Helvetica Neue"/>
              </a:rPr>
              <a:t>SIMON CHENG  ·  OKR TRACKER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0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Helvetica Neue"/>
              </a:rPr>
              <a:t>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30708"/>
            <a:ext cx="12188952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367284"/>
            <a:ext cx="4608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GSD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8452"/>
            <a:ext cx="12188952" cy="8488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623316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Scheduling &amp; Forecasting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824484"/>
            <a:ext cx="4562856" cy="53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Helvetica Neue"/>
              </a:rPr>
              <a:t>Deliver scheduling and key forecasting capabilities that are fully deployed, adopted, and operational across target locations by October 2026.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623316"/>
            <a:ext cx="2221992" cy="73914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65989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824484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Capabilities are deployment-ready and validated in a staging environment by October 2026.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87768" y="623316"/>
            <a:ext cx="2221992" cy="7391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65989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824484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Solid + deployed and live in all target locations by October 2026, with initial user adoption confirmed.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19488" y="623316"/>
            <a:ext cx="2221992" cy="73914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65989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824484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Impressive + measurable operational impact demonstrated (e.g. reduction in manual scheduling effort or improvement in forecast accuracy) within the year.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1410970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17320"/>
            <a:ext cx="12188952" cy="848868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1472184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Quarterly Roadmap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1673352"/>
            <a:ext cx="4562856" cy="53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Helvetica Neue"/>
              </a:rPr>
              <a:t>≥90% of committed quarterly roadmap initiatives delivered within approved scope and timeline.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1472184"/>
            <a:ext cx="2221992" cy="73914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1508760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1673352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≥90% of committed quarterly roadmap initiatives delivered within approved scope and timeline.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87768" y="1472184"/>
            <a:ext cx="2221992" cy="7391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1508760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673352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≥95% delivered on scope and timeline, with no scope reductions accepted post-commitment.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9488" y="1472184"/>
            <a:ext cx="2221992" cy="73914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508760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673352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100% delivered on scope and timeline; retrospective evidence showing improved estimation accuracy quarter-over-quarter.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2259838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2266188"/>
            <a:ext cx="12188952" cy="8488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2321052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Location Deployments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" y="2522220"/>
            <a:ext cx="4562856" cy="53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Helvetica Neue"/>
              </a:rPr>
              <a:t>100% of 16 planned store deployments activated on time across North America (11) and Europe (5).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56048" y="2321052"/>
            <a:ext cx="2221992" cy="73914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2357628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2522220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100% of planned location deployments activated on time.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87768" y="2321052"/>
            <a:ext cx="2221992" cy="7391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0920" y="2357628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522220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Solid + all deployments completed with zero critical post-go-live incidents within the first 30 days.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19488" y="2321052"/>
            <a:ext cx="2221992" cy="73914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2357628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522220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Impressive + deployment playbook refined and reused, reducing average deployment cycle time by ≥20% vs. baseline.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3108706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3115056"/>
            <a:ext cx="12188952" cy="848868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2608" y="3169920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Product Dashboard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" y="3371088"/>
            <a:ext cx="4562856" cy="53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Helvetica Neue"/>
              </a:rPr>
              <a:t>Build and embed a product dashboard that gives the Retail &amp; Wholesale Technology team visibility into capability performance, enabling data-driven prioritisation and investment decisions.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56048" y="3169920"/>
            <a:ext cx="2221992" cy="73914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3206496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3371088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Product dashboard live with core metrics defined and accessible to the team by Q2 2026.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87768" y="3169920"/>
            <a:ext cx="2221992" cy="7391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20" y="3206496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3371088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Solid + dashboard actively referenced in quarterly business reviews with at least one documented decision influenced by the data.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19488" y="3169920"/>
            <a:ext cx="2221992" cy="73914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2640" y="3206496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3371088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Impressive + dashboard expanded to include predictive or trending metrics, and adopted as the primary tool for roadmap prioritisation discussions.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3957574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4018788"/>
            <a:ext cx="12188952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" y="4055364"/>
            <a:ext cx="4608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ALC — ARC'TERYX LEADERSHIP CODE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4256532"/>
            <a:ext cx="12188952" cy="8488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2608" y="4311396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Innovation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2608" y="4512564"/>
            <a:ext cx="4562856" cy="53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Helvetica Neue"/>
              </a:rPr>
              <a:t>Foster a culture of innovation within Retail &amp; Wholesale Technology by creating space for new ideas, experimentation, and calculated risk-taking.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56048" y="4311396"/>
            <a:ext cx="2221992" cy="73914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0" y="434797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4512564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At least one structured innovation initiative (e.g. hackathon, spike, or experimentation sprint) run within the year, with outcomes shared across the team.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87768" y="4311396"/>
            <a:ext cx="2221992" cy="7391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60920" y="434797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20" y="4512564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Solid + at least one idea originating from the team moves into the roadmap or is adopted as a practice change.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619488" y="4311396"/>
            <a:ext cx="2221992" cy="73914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92640" y="434797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4512564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Impressive + innovation contributions recognised at a leadership level; team members proactively bring forward ideas without prompting.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5099050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5105400"/>
            <a:ext cx="12188952" cy="848868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92608" y="5160264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Communication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2608" y="5361432"/>
            <a:ext cx="4562856" cy="53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Helvetica Neue"/>
              </a:rPr>
              <a:t>Maintain clear, consistent, and transparent communication across the team and with senior stakeholders — ensuring alignment on priorities, progress, and decisions.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56048" y="5160264"/>
            <a:ext cx="2221992" cy="73914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0" y="5196840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0" y="5361432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Regular cadence of team and stakeholder communications maintained (e.g. team updates, leadership reporting) with no significant alignment gaps.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87768" y="5160264"/>
            <a:ext cx="2221992" cy="7391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60920" y="5196840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60920" y="5361432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Solid + feedback from team and stakeholders reflects high clarity and confidence in direction; no surprises at key milestones.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19488" y="5160264"/>
            <a:ext cx="2221992" cy="73914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92640" y="5196840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92640" y="5361432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Impressive + communication style recognised as a model within the broader leadership group; proactively shapes narratives rather than responding to them.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5947918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0" y="5954268"/>
            <a:ext cx="12188952" cy="8488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2608" y="6009132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Vision &amp; Strategy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2608" y="6210300"/>
            <a:ext cx="4562856" cy="53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Helvetica Neue"/>
              </a:rPr>
              <a:t>Articulate and sustain a clear multi-year technology vision for Retail &amp; Wholesale that connects team work to Arc'teryx's broader strategic direction.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56048" y="6009132"/>
            <a:ext cx="2221992" cy="73914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0" y="6045708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0" y="6210300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A documented Retail &amp; Wholesale Technology vision and 2026 strategy communicated to the team and referenced in planning.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87768" y="6009132"/>
            <a:ext cx="2221992" cy="73914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360920" y="6045708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60920" y="6210300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Solid + vision actively used to prioritise and deprioritise work; team can articulate how their work connects to the broader strategy.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19488" y="6009132"/>
            <a:ext cx="2221992" cy="739140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692640" y="6045708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692640" y="6210300"/>
            <a:ext cx="214884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Impressive + vision recognised and cited by senior leadership as a benchmark for strategic clarity within the technology organisation.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796786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"/>
            <a:ext cx="12188952" cy="25400"/>
          </a:xfrm>
          <a:prstGeom prst="rect">
            <a:avLst/>
          </a:prstGeom>
          <a:solidFill>
            <a:srgbClr val="5E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6400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Helvetica Neue"/>
              </a:rPr>
              <a:t>SIMON CHENG  ·  OKR TRACKER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00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CCCCC"/>
                </a:solidFill>
                <a:latin typeface="Helvetica Neue"/>
              </a:rPr>
              <a:t>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30708"/>
            <a:ext cx="12188952" cy="23774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367284"/>
            <a:ext cx="46085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Helvetica Neue"/>
              </a:rPr>
              <a:t>LIVEIT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68452"/>
            <a:ext cx="1218895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623316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Simon learns to swim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824484"/>
            <a:ext cx="456285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Helvetica Neue"/>
              </a:rPr>
              <a:t>Complete a structured swim program and build enough technique and endurance to swim continuously and confidently.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623316"/>
            <a:ext cx="2221992" cy="1353312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65989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824484"/>
            <a:ext cx="21488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Helvetica Neue"/>
              </a:rPr>
              <a:t>Completes a structured beginner swim program and can swim 25m unassisted.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87768" y="623316"/>
            <a:ext cx="2221992" cy="135331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65989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824484"/>
            <a:ext cx="21488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Helvetica Neue"/>
              </a:rPr>
              <a:t>Swims 50m continuously with controlled breathing and consistent technique.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19488" y="623316"/>
            <a:ext cx="2221992" cy="1353312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65989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824484"/>
            <a:ext cx="21488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Helvetica Neue"/>
              </a:rPr>
              <a:t>Completes a 200m continuous swim — enough to never be the liability on a group water activity.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025142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031492"/>
            <a:ext cx="12188952" cy="1463040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2086356"/>
            <a:ext cx="4562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Helvetica Neue"/>
              </a:rPr>
              <a:t>Claire leads me on a mountain biking event and I lose nothing important to my body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2287524"/>
            <a:ext cx="4562856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Helvetica Neue"/>
              </a:rPr>
              <a:t>Participate in a mountain biking event led by Claire and emerge intact, dignified, and possibly enthusiastic.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2086356"/>
            <a:ext cx="2221992" cy="1353312"/>
          </a:xfrm>
          <a:prstGeom prst="rect">
            <a:avLst/>
          </a:prstGeom>
          <a:solidFill>
            <a:srgbClr val="F9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12293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SOLID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287524"/>
            <a:ext cx="21488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Helvetica Neue"/>
              </a:rPr>
              <a:t>Completes the ride. All limbs accounted for.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87768" y="2086356"/>
            <a:ext cx="2221992" cy="1353312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212293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95959"/>
                </a:solidFill>
                <a:latin typeface="Helvetica Neue"/>
              </a:rPr>
              <a:t>IMPRESSIVE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287524"/>
            <a:ext cx="21488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Helvetica Neue"/>
              </a:rPr>
              <a:t>Solid + keeps up with Claire for at least 50% of the trail without stopping to "appreciate the scenery."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9488" y="2086356"/>
            <a:ext cx="2221992" cy="1353312"/>
          </a:xfrm>
          <a:prstGeom prst="rect">
            <a:avLst/>
          </a:prstGeom>
          <a:solidFill>
            <a:srgbClr val="EE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122932"/>
            <a:ext cx="22219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E6B52"/>
                </a:solidFill>
                <a:latin typeface="Helvetica Neue"/>
              </a:rPr>
              <a:t>EXCELLENT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287524"/>
            <a:ext cx="214884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Helvetica Neue"/>
              </a:rPr>
              <a:t>Impressive + finishes with enough dignity to suggest doing it again.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3488182"/>
            <a:ext cx="12188952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