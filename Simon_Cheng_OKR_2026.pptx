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"/>
            <a:ext cx="12188952" cy="25400"/>
          </a:xfrm>
          <a:prstGeom prst="rect">
            <a:avLst/>
          </a:prstGeom>
          <a:solidFill>
            <a:srgbClr val="5E6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6400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Helvetica Neue"/>
              </a:rPr>
              <a:t>SIMON CHENG  ·  OKR TRACKER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00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  <a:latin typeface="Helvetica Neue"/>
              </a:rPr>
              <a:t>1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30708"/>
            <a:ext cx="12188952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367284"/>
            <a:ext cx="4608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RAPIDLY DELIVER WITH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8452"/>
            <a:ext cx="12188952" cy="1188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623316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Delivery Predictability &amp; Agile Maturity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824484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Achieve a high completed-vs-committed delivery ratio and ensure sprint tickets meet the Definition of Done (DoD) across all Retail &amp; Wholesale delivery squads.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6048" y="623316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2448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80% completed vs. committed; 80% DoD adherence.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87768" y="623316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82448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85% completed vs. committed; 85% DoD adherence.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19488" y="623316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82448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90%+ completed vs. committed; 90%+ DoD adherence.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1750517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756867"/>
            <a:ext cx="12188952" cy="1188415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1811731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Testing Automation &amp;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2012899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Increase automated test and regression coverage across apps in Retail Commerce, Retail Digital workspace, across desktop and mobile form factors.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1811731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184830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012899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40% overall automated test coverage.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87768" y="1811731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184830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012899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60% overall automated test coverage.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19488" y="1811731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184830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012899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80% overall automated test coverage.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2938932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945282"/>
            <a:ext cx="12188952" cy="1188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8" y="3000146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AI-Assisted Productivity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3201314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Increase the percentage of product delivery work supported by AI-assisted tooling across Retail &amp; Wholesale Technology — measured across four output types: requirements &amp; user stories, data mapping artifacts, delivery scoping cycle time, and active use of a Retail &amp; Wholesale domain knowledge base.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56048" y="3000146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0" y="303672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320131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20% combined AI-assisted contributions across the four output types, measured quarterly from Q2 2026.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87768" y="3000146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303672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320131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30% combined AI-assisted contributions; Retail &amp; Wholesale knowledge base v1.0 active and referenced by ≥2 squads.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9488" y="3000146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03672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20131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40% combined AI-assisted contributions; Retail &amp; Wholesale knowledge base v1.0 active and referenced by ≥2 squads.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4127347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188561"/>
            <a:ext cx="12188952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4225137"/>
            <a:ext cx="4608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SCALE WITH PLATFORMS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4426305"/>
            <a:ext cx="12188952" cy="1188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2608" y="4481169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Platform Services Adoption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" y="4682337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Drive global platform scale by building any new Retail &amp; Wholesale capabilities via adoption of the approved and available Omnichannel Platform (OCP) services and ensuring all new initiatives requiring services assist funding and building out of OCP domains.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56048" y="4481169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0" y="4517745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4682337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90% of new integrations built on new platform services where available.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87768" y="4481169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920" y="4517745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682337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Solid + One extra unfunded capabilities migrate to new OCP services from legacy services.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19488" y="4481169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2640" y="4517745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2640" y="4682337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Solid + two extra unfunded capabilities migrate to new OCP services from legacy services.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560837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5614720"/>
            <a:ext cx="12188952" cy="1188415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2608" y="5669584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System Reliability &amp; Security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2608" y="5870752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Maintain critical platform uptime across POS, Workforce Management, and Wholesale Order platforms and ensure rapid remediation of critical vulnerabilities detected.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56048" y="5669584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0" y="570616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0" y="5870752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99.0% uptime; critical vulnerabilities addressed in 3 days.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87768" y="5669584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60920" y="570616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60920" y="5870752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99.5% uptime; critical vulnerabilities addressed in 48 hours.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19488" y="5669584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92640" y="570616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5870752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99.9% uptime; critical vulnerabilities addressed in 24 hours.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796786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"/>
            <a:ext cx="12188952" cy="25400"/>
          </a:xfrm>
          <a:prstGeom prst="rect">
            <a:avLst/>
          </a:prstGeom>
          <a:solidFill>
            <a:srgbClr val="5E6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6400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Helvetica Neue"/>
              </a:rPr>
              <a:t>SIMON CHENG  ·  OKR TRACKER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00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  <a:latin typeface="Helvetica Neue"/>
              </a:rPr>
              <a:t>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30708"/>
            <a:ext cx="12188952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367284"/>
            <a:ext cx="4608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TECHNOLOGY EXCELLENCE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8452"/>
            <a:ext cx="12188952" cy="7427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623316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Financial &amp; Roadmap Rigor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824484"/>
            <a:ext cx="4562856" cy="431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Deliver the Retail &amp; Wholesale tech roadmaps on budget and sustain platforms within baseline opex budget.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6048" y="623316"/>
            <a:ext cx="2221992" cy="633031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24484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Delivered with +/- 10% budget variance.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87768" y="623316"/>
            <a:ext cx="2221992" cy="633031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824484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Delivered with +/- 5% budget variance.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19488" y="623316"/>
            <a:ext cx="2221992" cy="633031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824484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Delivered perfectly on budget (0% variance).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1304861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311211"/>
            <a:ext cx="12188952" cy="742759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1366075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Team Health, Retention &amp; Development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1567243"/>
            <a:ext cx="4562856" cy="431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Foster a high-performing organization by executing active development, and maintaining Peakon engagement scores from Q4 2025 benchmark.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1366075"/>
            <a:ext cx="2221992" cy="633031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1402651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1567243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90% retention; 90% of team has active development plans, Peakon score maintained.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87768" y="1366075"/>
            <a:ext cx="2221992" cy="633031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1402651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1567243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95% retention; 95% of team has active development plans, Peakon score improved by 0.1 for 1 quarter.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19488" y="1366075"/>
            <a:ext cx="2221992" cy="633031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1402651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1567243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&gt;95% retention; 100% development plans + &gt;0.1 increase in Peakon focus areas maintained from Q1 to Q4.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2047621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053971"/>
            <a:ext cx="12188952" cy="7427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8" y="2108835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Planning &amp; Delivery Framework Completion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2310003"/>
            <a:ext cx="4562856" cy="431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100% completion of Planning and Delivery Framework artifacts for prioritized projects greater than USD $250k.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56048" y="2108835"/>
            <a:ext cx="2221992" cy="633031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0" y="2145411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310003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100% of prioritized projects (&gt;$250k) have Planning &amp; Delivery Framework artifacts completed on time.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87768" y="2108835"/>
            <a:ext cx="2221992" cy="633031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2145411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2310003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artifacts completed ahead of schedule and signed off by stakeholders before project kick-off.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9488" y="2108835"/>
            <a:ext cx="2221992" cy="633031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2145411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2310003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framework adoption extends beyond the $250k threshold, with smaller initiatives voluntarily adopting artifacts — indicating cultural embedding across the team.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279038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2796730"/>
            <a:ext cx="12188952" cy="742759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2851594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Succession Readiness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" y="3052762"/>
            <a:ext cx="4562856" cy="431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Ensure every critical role within the Retail &amp; Wholesale Technology team has an identified and documented successor, with a development plan in place to close readiness gaps.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56048" y="2851594"/>
            <a:ext cx="2221992" cy="633031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0" y="288817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0" y="3052762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100% of critical roles have a named successor documented with an initial readiness assessment completed.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87768" y="2851594"/>
            <a:ext cx="2221992" cy="633031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60920" y="288817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3052762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each successor has an active development plan targeting their specific readiness gaps, reviewed with the individual.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19488" y="2851594"/>
            <a:ext cx="2221992" cy="633031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0" y="288817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052762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at least one successor per critical role has been given a visible stretch assignment or acting opportunity to validate readiness in practice.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353314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3594354"/>
            <a:ext cx="12188952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2608" y="3630930"/>
            <a:ext cx="4608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GSD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3832098"/>
            <a:ext cx="12188952" cy="7427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2608" y="3886962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Scheduling &amp; Forecasting Capabilities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2608" y="4088130"/>
            <a:ext cx="4562856" cy="431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Deliver scheduling and key forecasting capabilities that are fully deployed, adopted, and operational across target locations by October 2026.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56048" y="3886962"/>
            <a:ext cx="2221992" cy="633031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0" y="3923538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0" y="4088130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Capabilities are deployment-ready and validated in a staging environment by October 2026.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87768" y="3886962"/>
            <a:ext cx="2221992" cy="633031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60920" y="3923538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60920" y="4088130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deployed and live in all target locations by October 2026, with initial user adoption confirmed.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19488" y="3886962"/>
            <a:ext cx="2221992" cy="633031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92640" y="3923538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4088130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measurable operational impact demonstrated (e.g. reduction in manual scheduling effort or improvement in forecast accuracy) within the year.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4568507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0" y="4574857"/>
            <a:ext cx="12188952" cy="742759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2608" y="4629721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Quarterly Roadmap Delivery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2608" y="4830889"/>
            <a:ext cx="4562856" cy="431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≥90% of committed quarterly roadmap initiatives delivered within approved scope and timeline.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56048" y="4629721"/>
            <a:ext cx="2221992" cy="633031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0" y="466629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0" y="4830889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≥90% of committed quarterly roadmap initiatives delivered within approved scope and timeline.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287768" y="4629721"/>
            <a:ext cx="2221992" cy="633031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360920" y="466629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20" y="4830889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≥95% delivered on scope and timeline, with no scope reductions accepted post-commitment.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619488" y="4629721"/>
            <a:ext cx="2221992" cy="633031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692640" y="466629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92640" y="4830889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100% delivered on scope and timeline; retrospective evidence showing improved estimation accuracy quarter-over-quarter.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5311267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0" y="5317617"/>
            <a:ext cx="12188952" cy="7427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92608" y="5372481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Location Deployments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2608" y="5573649"/>
            <a:ext cx="4562856" cy="431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100% of 16 planned store deployments activated on time across North America (11) and Europe (5).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56048" y="5372481"/>
            <a:ext cx="2221992" cy="633031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0" y="540905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0" y="5573649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100% of planned location deployments activated on time.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87768" y="5372481"/>
            <a:ext cx="2221992" cy="633031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60920" y="540905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60920" y="5573649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all deployments completed with zero critical post-go-live incidents within the first 30 days.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19488" y="5372481"/>
            <a:ext cx="2221992" cy="633031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92640" y="540905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692640" y="5573649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deployment playbook refined and reused, reducing average deployment cycle time by ≥20% vs. baseline.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054026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6060376"/>
            <a:ext cx="12188952" cy="742759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92608" y="6115240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Product Dashboard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2608" y="6316408"/>
            <a:ext cx="4562856" cy="431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Helvetica Neue"/>
              </a:rPr>
              <a:t>Build and embed a product dashboard that gives the Retail &amp; Wholesale Technology team visibility into capability performance, enabling data-driven prioritisation and investment decisions.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956048" y="6115240"/>
            <a:ext cx="2221992" cy="633031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00" y="6151816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00" y="6316408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Product dashboard live with core metrics defined and accessible to the team by Q2 2026.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87768" y="6115240"/>
            <a:ext cx="2221992" cy="633031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360920" y="6151816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60920" y="6316408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Solid + dashboard actively referenced in quarterly business reviews with at least one documented decision influenced by the data.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19488" y="6115240"/>
            <a:ext cx="2221992" cy="633031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692640" y="6151816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692640" y="6316408"/>
            <a:ext cx="2148840" cy="404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Helvetica Neue"/>
              </a:rPr>
              <a:t>Impressive + dashboard expanded to include predictive or trending metrics, and adopted as the primary tool for roadmap prioritisation discussions.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0" y="6796786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"/>
            <a:ext cx="12188952" cy="25400"/>
          </a:xfrm>
          <a:prstGeom prst="rect">
            <a:avLst/>
          </a:prstGeom>
          <a:solidFill>
            <a:srgbClr val="5E6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6400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Helvetica Neue"/>
              </a:rPr>
              <a:t>SIMON CHENG  ·  OKR TRACKER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008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  <a:latin typeface="Helvetica Neue"/>
              </a:rPr>
              <a:t>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30708"/>
            <a:ext cx="12188952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367284"/>
            <a:ext cx="4608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ALC — ARC'TERYX LEADERSHIP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8452"/>
            <a:ext cx="12188952" cy="1188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623316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Innovation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824484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Foster a culture of innovation within Retail &amp; Wholesale Technology by creating space for new ideas, experimentation, and calculated risk-taking.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6048" y="623316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82448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At least one structured innovation initiative (e.g. hackathon, spike, or experimentation sprint) run within the year, with outcomes shared across the team.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87768" y="623316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82448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Solid + at least one idea originating from the team moves into the roadmap or is adopted as a practice change.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19488" y="623316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65989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82448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Impressive + innovation contributions recognised at a leadership level; team members proactively bring forward ideas without prompting.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1750517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756867"/>
            <a:ext cx="12188952" cy="1188415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1811731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Communication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2012899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Maintain clear, consistent, and transparent communication across the team and with senior stakeholders — ensuring alignment on priorities, progress, and decisions.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1811731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184830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012899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Regular cadence of team and stakeholder communications maintained (e.g. team updates, leadership reporting) with no significant alignment gaps.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87768" y="1811731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184830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012899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Solid + feedback from team and stakeholders reflects high clarity and confidence in direction; no surprises at key milestones.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19488" y="1811731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1848307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012899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Impressive + communication style recognised as a model within the broader leadership group; proactively shapes narratives rather than responding to them.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2938932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2945282"/>
            <a:ext cx="12188952" cy="1188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8" y="3000146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Vision &amp; Strategy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3201314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Articulate and sustain a clear multi-year technology vision for Retail &amp; Wholesale that connects team work to Arc'teryx's broader strategic direction.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56048" y="3000146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0" y="303672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320131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A documented Retail &amp; Wholesale Technology vision and 2026 strategy communicated to the team and referenced in planning.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87768" y="3000146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303672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320131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Solid + vision actively used to prioritise and deprioritise work; team can articulate how their work connects to the broader strategy.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9488" y="3000146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036722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201314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Impressive + vision recognised and cited by senior leadership as a benchmark for strategic clarity within the technology organisation.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4127347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188561"/>
            <a:ext cx="12188952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4225137"/>
            <a:ext cx="4608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LIVEIT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4426305"/>
            <a:ext cx="12188952" cy="1188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2608" y="4481169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Simon learns to swim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" y="4682337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Complete a structured swim program and build enough technique and endurance to swim continuously and confidently.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56048" y="4481169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0" y="4517745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4682337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Completes a structured beginner swim program and can swim 25m unassisted.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87768" y="4481169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920" y="4517745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682337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Swims 50m continuously with controlled breathing and consistent technique.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19488" y="4481169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2640" y="4517745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2640" y="4682337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Completes a 200m continuous swim — enough to never be the liability on a group water activity.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5608370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5614720"/>
            <a:ext cx="12188952" cy="1188415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2608" y="5669584"/>
            <a:ext cx="4562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Helvetica Neue"/>
              </a:rPr>
              <a:t>Claire leads me on a mountain biking event and I lose nothing important to my body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2608" y="5870752"/>
            <a:ext cx="4562856" cy="87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Helvetica Neue"/>
              </a:rPr>
              <a:t>Participate in a mountain biking event led by Claire and emerge intact, dignified, and possibly enthusiastic.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56048" y="5669584"/>
            <a:ext cx="2221992" cy="1078687"/>
          </a:xfrm>
          <a:prstGeom prst="rect">
            <a:avLst/>
          </a:prstGeom>
          <a:solidFill>
            <a:srgbClr val="F9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0" y="570616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SOLID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0" y="5870752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Completes the ride. All limbs accounted for.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87768" y="5669584"/>
            <a:ext cx="2221992" cy="1078687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60920" y="570616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95959"/>
                </a:solidFill>
                <a:latin typeface="Helvetica Neue"/>
              </a:rPr>
              <a:t>IMPRESSIVE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60920" y="5870752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Solid + keeps up with Claire for at least 50% of the trail without stopping to "appreciate the scenery."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19488" y="5669584"/>
            <a:ext cx="2221992" cy="1078687"/>
          </a:xfrm>
          <a:prstGeom prst="rect">
            <a:avLst/>
          </a:prstGeom>
          <a:solidFill>
            <a:srgbClr val="EE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92640" y="5706160"/>
            <a:ext cx="222199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5E6B52"/>
                </a:solidFill>
                <a:latin typeface="Helvetica Neue"/>
              </a:rPr>
              <a:t>EXCELLENT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5870752"/>
            <a:ext cx="2148840" cy="85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Helvetica Neue"/>
              </a:rPr>
              <a:t>Impressive + finishes with enough dignity to suggest doing it again.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796786"/>
            <a:ext cx="12188952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